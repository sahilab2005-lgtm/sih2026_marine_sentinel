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67b4b389b9492b" /><Relationship Type="http://schemas.openxmlformats.org/officeDocument/2006/relationships/extended-properties" Target="/docProps/app.xml" Id="Re1de1e8b8c7f457f" /><Relationship Type="http://schemas.openxmlformats.org/officeDocument/2006/relationships/officeDocument" Target="/ppt/presentation.xml" Id="R472f1df6e4d743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a8da0f5ca4f7f"/>
  </p:sldMasterIdLst>
  <p:notesMasterIdLst>
    <p:notesMasterId xmlns:r="http://schemas.openxmlformats.org/officeDocument/2006/relationships" r:id="R3a7dd904022940c6"/>
  </p:notesMasterIdLst>
  <p:sldIdLst>
    <p:sldId xmlns:r="http://schemas.openxmlformats.org/officeDocument/2006/relationships" id="256" r:id="R00a001bbc2e5423f"/>
    <p:sldId xmlns:r="http://schemas.openxmlformats.org/officeDocument/2006/relationships" id="257" r:id="Rc18467b7bcd24c47"/>
    <p:sldId xmlns:r="http://schemas.openxmlformats.org/officeDocument/2006/relationships" id="258" r:id="Re14d571b62a7443a"/>
    <p:sldId xmlns:r="http://schemas.openxmlformats.org/officeDocument/2006/relationships" id="259" r:id="Rc1ab2eb46c0c4e03"/>
    <p:sldId xmlns:r="http://schemas.openxmlformats.org/officeDocument/2006/relationships" id="260" r:id="Rcfe99b5223bc483d"/>
    <p:sldId xmlns:r="http://schemas.openxmlformats.org/officeDocument/2006/relationships" id="261" r:id="R55c68f8e6cd9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d94645bd0473f" /><Relationship Type="http://schemas.openxmlformats.org/officeDocument/2006/relationships/slideMaster" Target="/ppt/slideMasters/slideMaster1.xml" Id="R616a8da0f5ca4f7f" /><Relationship Type="http://schemas.openxmlformats.org/officeDocument/2006/relationships/notesMaster" Target="/ppt/notesMasters/notesMaster1.xml" Id="R3a7dd904022940c6" /><Relationship Type="http://schemas.openxmlformats.org/officeDocument/2006/relationships/presProps" Target="/ppt/presProps.xml" Id="R5c2826c6482a4ef0" /><Relationship Type="http://schemas.openxmlformats.org/officeDocument/2006/relationships/viewProps" Target="/ppt/viewProps.xml" Id="R4fc08e1139784e63" /><Relationship Type="http://schemas.openxmlformats.org/officeDocument/2006/relationships/tableStyles" Target="/ppt/tableStyles.xml" Id="Rdcc88ba5a79c4b1b" /><Relationship Type="http://schemas.openxmlformats.org/officeDocument/2006/relationships/slide" Target="/ppt/slides/slide1.xml" Id="R00a001bbc2e5423f" /><Relationship Type="http://schemas.openxmlformats.org/officeDocument/2006/relationships/slide" Target="/ppt/slides/slide2.xml" Id="Rc18467b7bcd24c47" /><Relationship Type="http://schemas.openxmlformats.org/officeDocument/2006/relationships/slide" Target="/ppt/slides/slide3.xml" Id="Re14d571b62a7443a" /><Relationship Type="http://schemas.openxmlformats.org/officeDocument/2006/relationships/slide" Target="/ppt/slides/slide4.xml" Id="Rc1ab2eb46c0c4e03" /><Relationship Type="http://schemas.openxmlformats.org/officeDocument/2006/relationships/slide" Target="/ppt/slides/slide5.xml" Id="Rcfe99b5223bc483d" /><Relationship Type="http://schemas.openxmlformats.org/officeDocument/2006/relationships/slide" Target="/ppt/slides/slide6.xml" Id="R55c68f8e6cd9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2b2376910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2b142a6f74555" /><Relationship Type="http://schemas.openxmlformats.org/officeDocument/2006/relationships/notesMaster" Target="/ppt/notesMasters/notesMaster1.xml" Id="Re9ba83dc36c144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b1ce713e241f1" /><Relationship Type="http://schemas.openxmlformats.org/officeDocument/2006/relationships/notesMaster" Target="/ppt/notesMasters/notesMaster1.xml" Id="Re832a7199507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33dd5831249c8" /><Relationship Type="http://schemas.openxmlformats.org/officeDocument/2006/relationships/notesMaster" Target="/ppt/notesMasters/notesMaster1.xml" Id="R5f17a2521423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809dd012c74d11" /><Relationship Type="http://schemas.openxmlformats.org/officeDocument/2006/relationships/notesMaster" Target="/ppt/notesMasters/notesMaster1.xml" Id="Rf272f22a85f2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57c22899f45e2" /><Relationship Type="http://schemas.openxmlformats.org/officeDocument/2006/relationships/notesMaster" Target="/ppt/notesMasters/notesMaster1.xml" Id="R12c3b666992f48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0cf02b5e84a58" /><Relationship Type="http://schemas.openxmlformats.org/officeDocument/2006/relationships/notesMaster" Target="/ppt/notesMasters/notesMaster1.xml" Id="Rb9fa4e5d067f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Marine Sentinel SIH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Marine Sentinel SIH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Marine Sentinel SIH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Marine Sentinel SIH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Marine Sentinel SIH prototype.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NOAA Marine Debris Program, FAO Responsible Fishing Practices, Ultralytics documentation.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833c1effd47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adcc3b9824f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15bda1b434e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6acd34841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741cedb5944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8f3e3ba9142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8205fb7c44f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4b47ce0ad48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6b54d8a0c48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cf35d1c4a44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1676b852a4c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91B911-7E78-42AE-AC69-D0CFE6703E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FF1B6F0-B860-498A-A9CF-29DFD00440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5A9BCE-21C3-4390-AD6A-6E76763E24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A4A086-C06C-4A24-B5AC-CFF576EF0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5F9778-B0AC-45F0-BFE1-32C43E932E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85A096-3EB2-46EB-899B-A567B3A90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D1A0E8-72C1-4418-AA81-D070416B26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E6AB96-D950-425F-8738-EC0D008A4F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6C11FD-5F8C-4B1E-9374-D81A76A347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0BA1CF-59C4-49E3-8948-67DC26396C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A5828A-D299-48BA-95D7-EF6404799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BBD45C-0BDC-4112-9D6E-7FFC1EE93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EA3F4C-8880-4003-8911-911A610ED4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17B0E-D44E-4A51-B6E1-22240D2A73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8983EA-4F04-447C-AADF-9DBCBA4A6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F854A4-625E-49AE-9DDD-EB381C79A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6306A7-AC9D-4C1E-AE89-5287644A42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2A4841-D251-468D-A8C7-8ECF636494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A49EE1-BA23-48D1-8EE1-9992E78F1C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A6678C-5A72-4B6F-AAD4-7B4D62B0F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4E282A-E60C-4F26-8082-C910CFBB0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FB756C-9E6F-48D5-BC37-9ACB32FB5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8E68AF-D193-4BD5-A919-CC13D7EC8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5118FD-2FA7-4131-ADAD-33455DBFB50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B3A6B3-2D20-4EA3-912F-AAA46609991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CF194BA-80A9-45B3-A3BE-68C9C1BABA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DF8282-AED8-4BE1-AC3C-5774E1A5E2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F218C1-931F-487B-9487-964C97BC6A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16D4B4-CDD5-4AEC-8C4F-8BC82DD94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0E9F8C-97D6-4584-BF6C-8CF43CB38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E0C003-3749-470C-B5FF-7D2E6CD412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E4E123-3DC3-478A-8A75-54C2361716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E85516-C4F1-4126-AEA9-683AAE6376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A57268-4475-485A-9E0D-51E06A9E9E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577BA-8757-499D-ABE8-75BA44010F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9B69F1-3E43-453B-AE96-DD2A72B817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B6545B-0812-40B6-863C-5529C04B3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7BD1C1-C989-4A18-8DA3-3DA871AEE2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DBDF1DE-1C15-4ACE-B629-48D66D44AF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1DCCB5-7163-4623-B030-50FB0AC9B1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5F351A-81F7-48CB-A2C6-888F00B67C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FA580D-C853-4ADB-BABD-58D0D4E3AC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61DA77-E23E-45A9-B01D-29803B5D2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EFF524-8A49-45FA-95D4-BD3A8D4211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FF0EB02-4F87-4131-89DC-09C55DB24D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D224F7-C065-403E-A7DA-C2BA8C66C0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0B1CBB-F3E7-478F-9E41-DAFA823ED7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E1E924-CC4C-4DC0-9D0E-27E4427112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1A641A-BFE9-4A23-8771-974FBA3E9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76035C-72C8-4772-9571-D72383642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4A6747-3130-4594-BFA8-670A0BDC79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3CCAB6-F472-406B-851A-A158ADA434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E38E98-CB78-40DD-95F9-DEB487F98D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69FF2DF-E36E-4335-A18A-B9B6EFF2D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273AEB-9B2E-4AE3-96E4-01E07B085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9A5752-563D-442C-B39A-7B87AFD4C8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CDE5FD-870D-47B5-9B05-35E437C973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3D05E8-4813-406B-9115-A800AE67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cdee5c46e94701" /><Relationship Type="http://schemas.openxmlformats.org/officeDocument/2006/relationships/slideLayout" Target="/ppt/slideLayouts/slideLayout1.xml" Id="Rf0df0890cca74718" /><Relationship Type="http://schemas.openxmlformats.org/officeDocument/2006/relationships/slideLayout" Target="/ppt/slideLayouts/slideLayout2.xml" Id="Rfadefaa634074a13" /><Relationship Type="http://schemas.openxmlformats.org/officeDocument/2006/relationships/slideLayout" Target="/ppt/slideLayouts/slideLayout3.xml" Id="R4a500b0d81934332" /><Relationship Type="http://schemas.openxmlformats.org/officeDocument/2006/relationships/slideLayout" Target="/ppt/slideLayouts/slideLayout4.xml" Id="R7e81e3a84ccc4335" /><Relationship Type="http://schemas.openxmlformats.org/officeDocument/2006/relationships/slideLayout" Target="/ppt/slideLayouts/slideLayout5.xml" Id="Redc5dcffd9f6470f" /><Relationship Type="http://schemas.openxmlformats.org/officeDocument/2006/relationships/slideLayout" Target="/ppt/slideLayouts/slideLayout6.xml" Id="R14ecf5cd470f4dd1" /><Relationship Type="http://schemas.openxmlformats.org/officeDocument/2006/relationships/slideLayout" Target="/ppt/slideLayouts/slideLayout7.xml" Id="Rc48439b2357545bd" /><Relationship Type="http://schemas.openxmlformats.org/officeDocument/2006/relationships/slideLayout" Target="/ppt/slideLayouts/slideLayout8.xml" Id="R7d0c99c9b13a479d" /><Relationship Type="http://schemas.openxmlformats.org/officeDocument/2006/relationships/slideLayout" Target="/ppt/slideLayouts/slideLayout9.xml" Id="Rf934583cce494f3c" /><Relationship Type="http://schemas.openxmlformats.org/officeDocument/2006/relationships/slideLayout" Target="/ppt/slideLayouts/slideLayout10.xml" Id="Raf5a77f0fa434a9e" /><Relationship Type="http://schemas.openxmlformats.org/officeDocument/2006/relationships/slideLayout" Target="/ppt/slideLayouts/slideLayout11.xml" Id="R445c4579d2204a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6F5DB8B-7EED-40EB-9E74-0E1A10DBF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C3F851-C120-45C2-A7E3-C52D35297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1EF005-545D-4FFF-B884-7EEDA7B29D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9BCE7-A784-40DB-9D82-6312960123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EDD809-BF20-415F-87B4-1D809EA04A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f0890cca74718"/>
    <p:sldLayoutId xmlns:r="http://schemas.openxmlformats.org/officeDocument/2006/relationships" id="2147483650" r:id="Rfadefaa634074a13"/>
    <p:sldLayoutId xmlns:r="http://schemas.openxmlformats.org/officeDocument/2006/relationships" id="2147483651" r:id="R4a500b0d81934332"/>
    <p:sldLayoutId xmlns:r="http://schemas.openxmlformats.org/officeDocument/2006/relationships" id="2147483652" r:id="R7e81e3a84ccc4335"/>
    <p:sldLayoutId xmlns:r="http://schemas.openxmlformats.org/officeDocument/2006/relationships" id="2147483653" r:id="Redc5dcffd9f6470f"/>
    <p:sldLayoutId xmlns:r="http://schemas.openxmlformats.org/officeDocument/2006/relationships" id="2147483654" r:id="R14ecf5cd470f4dd1"/>
    <p:sldLayoutId xmlns:r="http://schemas.openxmlformats.org/officeDocument/2006/relationships" id="2147483655" r:id="Rc48439b2357545bd"/>
    <p:sldLayoutId xmlns:r="http://schemas.openxmlformats.org/officeDocument/2006/relationships" id="2147483656" r:id="R7d0c99c9b13a479d"/>
    <p:sldLayoutId xmlns:r="http://schemas.openxmlformats.org/officeDocument/2006/relationships" id="2147483657" r:id="Rf934583cce494f3c"/>
    <p:sldLayoutId xmlns:r="http://schemas.openxmlformats.org/officeDocument/2006/relationships" id="2147483658" r:id="Raf5a77f0fa434a9e"/>
    <p:sldLayoutId xmlns:r="http://schemas.openxmlformats.org/officeDocument/2006/relationships" id="2147483659" r:id="R445c4579d2204a47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4206aaa1d4f6f" /><Relationship Type="http://schemas.openxmlformats.org/officeDocument/2006/relationships/image" Target="/ppt/media/image.png" Id="R4855f9b0ba734af2" /><Relationship Type="http://schemas.openxmlformats.org/officeDocument/2006/relationships/image" Target="/ppt/media/image2.png" Id="Rfe055c7b25404cc7" /><Relationship Type="http://schemas.openxmlformats.org/officeDocument/2006/relationships/notesSlide" Target="/ppt/notesSlides/notesSlide1.xml" Id="R3bef4966d1bc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2932cd1cee4f90" /><Relationship Type="http://schemas.openxmlformats.org/officeDocument/2006/relationships/image" Target="/ppt/media/image2.png" Id="R6978e0bd462e4536" /><Relationship Type="http://schemas.openxmlformats.org/officeDocument/2006/relationships/image" Target="/ppt/media/image3.png" Id="Ra34e141da6bf44f1" /><Relationship Type="http://schemas.openxmlformats.org/officeDocument/2006/relationships/notesSlide" Target="/ppt/notesSlides/notesSlide2.xml" Id="R9ea922bd5f90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7368a2ded461f" /><Relationship Type="http://schemas.openxmlformats.org/officeDocument/2006/relationships/image" Target="/ppt/media/image2.png" Id="R086b5ddff6564180" /><Relationship Type="http://schemas.openxmlformats.org/officeDocument/2006/relationships/image" Target="/ppt/media/image.jpeg" Id="R6cff0fc096514ba1" /><Relationship Type="http://schemas.openxmlformats.org/officeDocument/2006/relationships/notesSlide" Target="/ppt/notesSlides/notesSlide3.xml" Id="R078eaa60d908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73eaa45364cac" /><Relationship Type="http://schemas.openxmlformats.org/officeDocument/2006/relationships/image" Target="/ppt/media/image2.png" Id="Rc5c339b15b554fa3" /><Relationship Type="http://schemas.openxmlformats.org/officeDocument/2006/relationships/notesSlide" Target="/ppt/notesSlides/notesSlide4.xml" Id="R7585936e778c4b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7dc35d1f748d5" /><Relationship Type="http://schemas.openxmlformats.org/officeDocument/2006/relationships/image" Target="/ppt/media/image2.png" Id="Rf8cf1234d9ad4ecd" /><Relationship Type="http://schemas.openxmlformats.org/officeDocument/2006/relationships/notesSlide" Target="/ppt/notesSlides/notesSlide5.xml" Id="R160601c501da48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2fa82bca34ba3" /><Relationship Type="http://schemas.openxmlformats.org/officeDocument/2006/relationships/image" Target="/ppt/media/image2.png" Id="R21fd10c6e0a34830" /><Relationship Type="http://schemas.openxmlformats.org/officeDocument/2006/relationships/notesSlide" Target="/ppt/notesSlides/notesSlide6.xml" Id="Re66799918d354b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55f9b0ba734af2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193E4DC7-C7F6-422C-9DB8-168B4E9058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MARINE SENTINEL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1E7DA515-8B33-4D15-8B68-3C48C29206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6C6DC7E-70F8-405D-AEE1-80C1E8F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694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Problem Statement ID: [Enter SIH ID]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Problem Statement: AI-Powered Automated Underwater Marine Debris and Anomaly Detection System using Side-Scan Sonar Imagery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Theme: [Enter SIH theme]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PS Category: 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ID: [Enter team ID]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55c7b2540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192AA51-5D6B-44C0-814C-D929B0EA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B5DC1557-A1A7-47F5-9836-A24F66F18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MARINE SENTINEL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813AED6A-FF77-4885-A1FC-FA88523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00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 u="sng">
                <a:solidFill>
                  <a:srgbClr val="1F4E79"/>
                </a:solidFill>
                <a:latin typeface="Arial"/>
                <a:ea typeface="Arial"/>
                <a:cs typeface="Arial"/>
              </a:rPr>
              <a:t>Local dashboard for side-scan sonar review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/>
            </a: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Upload sonar imagery and survey metadata</a:t>
            </a: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Condition scans for speckle noise and uneven contrast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Detect crab pots and debris with trained YOLO inference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Show confidence, dimensions and approximate coordinates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Export a field report for cleanup and AUV teams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18C535-F224-4105-A0FC-BA15A5C0EE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57E063C8-41DB-45C6-B21C-B4E1752E55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/>
          </a:p>
        </p:txBody>
      </p:sp>
      <p:pic>
        <p:nvPicPr>
          <p:cNvPr id="1537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8e0bd462e4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5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e141da6bf44f1"/>
          <a:stretch xmlns:a="http://schemas.openxmlformats.org/drawingml/2006/main"/>
        </p:blipFill>
        <p:spPr>
          <a:xfrm xmlns:a="http://schemas.openxmlformats.org/drawingml/2006/main">
            <a:off x="6877050" y="2308664"/>
            <a:ext cx="4333875" cy="2526423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</p:spTree>
    <p:extLst>
      <p:ext uri="{BB962C8B-B14F-4D97-AF65-F5344CB8AC3E}">
        <p14:creationId xmlns:p14="http://schemas.microsoft.com/office/powerpoint/2010/main" val="12128246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E412E2A-A7C4-484A-858E-8D275C029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EEC0D62-80DF-4ADC-A1B5-05BB2C6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905500" cy="47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Side-scan sonar image with location and scale metadata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Image conditioning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Non-local means denoising and CLAHE local contrast normalization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 detection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Trained YOLO11n model for Crab-Pot and Maybe-Crab-Pot labels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Decision support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Confidence threshold and IoU suppression reduce duplicate boxes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marL="342900" indent="-342900" algn="just">
              <a:buFont typeface="Arial"/>
              <a:buChar char="•"/>
              <a:defRPr sz="1275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4E79"/>
                </a:solidFill>
                <a:latin typeface="Arial"/>
                <a:ea typeface="Arial"/>
                <a:cs typeface="Arial"/>
              </a:rPr>
              <a:t>Annotated scan plus JSON and CSV anomaly report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85C8D8-563E-4367-89DC-CB0F36D6A0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A5EB81F-616D-4EA6-B678-7E93595AA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/>
          </a:p>
        </p:txBody>
      </p:sp>
      <p:pic>
        <p:nvPicPr>
          <p:cNvPr id="174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b5ddff656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f0fc096514ba1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952625"/>
            <a:ext cx="3810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1864520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A106027-7FEA-4AFF-B744-45D1FAD74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03507-BC79-4649-AD3E-BA9C49F2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7345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Dataset readiness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project includes YOLO-formatted training, validation and held-out test splits for two debris classes.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Build readiness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The prototype uses Python, Streamlit, OpenCV and Ultralytics YOLO. A trained best.pt model now resides in the project models folder.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Deployment path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Train or resume on Google Colab GPU, evaluate on held-out test data and run local inference in the dashboard.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Risk control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Operators review low-confidence targets before field action.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D44B00-B437-428A-9C09-5CD8B5673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157CF6A-5E0A-4AD3-8F03-627A99E146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339b15b554f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673D76A-FF91-45D7-A644-99A7B9AFB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A9C6E953-7802-427A-859E-4054D546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 spc="0">
                <a:ln>
                  <a:noFill/>
                </a:ln>
                <a:solidFill>
                  <a:srgbClr val="1F4E79"/>
                </a:solidFill>
                <a:latin typeface="Arial"/>
                <a:ea typeface="Arial"/>
                <a:cs typeface="Arial"/>
              </a:rPr>
              <a:t>Conservation teams can prioritise sonar regions for human review instead of examining full sonar logs manually.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Cleanup and vessel teams receive a structured report containing target class, confidence, dimensions, priority and estimated coordinates.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Local inference supports offshore missions with intermittent connectivity.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Human review remains part of the workflow for ambiguous targets and safety-critical decisions.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B621F2-E7BB-4CC5-B432-1F531DB98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EE6EEE8-4B61-4914-B986-1F7B2DA8C7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f1234d9ad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D28DA75-5527-4033-A10D-29DFF6B08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EB79D52-C2BB-49FB-88D2-17A7929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NOAA Marine Debris Program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https://marinedebris.noaa.gov/what-marine-debris/derelict-fishing-gear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FAO Responsible Fishing Practices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https://www.fao.org/responsible-fishing/en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Ultralytics YOLO custom-data documentation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https://docs.ultralytics.com/yolov5/tutorials/train-custom-data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Project evidence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35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79"/>
                </a:solidFill>
                <a:latin typeface="Arial"/>
                <a:ea typeface="Arial"/>
                <a:cs typeface="Arial"/>
              </a:rPr>
              <a:t>YOLO-format Crab-Pot and Maybe-Crab-Pot sonar dataset included in this project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BED443-ABA2-4C88-97D7-951FD61718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646E754-7CE5-4E27-B08F-1E55D6738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TEAM [NAME]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d10c6e0a3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2026-09-21T16:25:27.8100000Z</dcterms:created>
  <dcterms:modified xsi:type="dcterms:W3CDTF">2026-09-21T16:25:27.8100000Z</dcterms:modified>
</coreProperties>
</file>